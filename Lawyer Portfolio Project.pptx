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349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10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11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10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11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10.png"/><Relationship Id="rId21" Type="http://schemas.openxmlformats.org/officeDocument/2006/relationships/image" Target="../media/image68.png"/><Relationship Id="rId7" Type="http://schemas.openxmlformats.org/officeDocument/2006/relationships/image" Target="../media/image55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39.png"/><Relationship Id="rId24" Type="http://schemas.openxmlformats.org/officeDocument/2006/relationships/image" Target="../media/image71.png"/><Relationship Id="rId5" Type="http://schemas.openxmlformats.org/officeDocument/2006/relationships/image" Target="../media/image53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10" Type="http://schemas.openxmlformats.org/officeDocument/2006/relationships/image" Target="../media/image58.png"/><Relationship Id="rId19" Type="http://schemas.openxmlformats.org/officeDocument/2006/relationships/image" Target="../media/image66.png"/><Relationship Id="rId4" Type="http://schemas.openxmlformats.org/officeDocument/2006/relationships/image" Target="../media/image11.png"/><Relationship Id="rId9" Type="http://schemas.openxmlformats.org/officeDocument/2006/relationships/image" Target="../media/image57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26" Type="http://schemas.openxmlformats.org/officeDocument/2006/relationships/image" Target="../media/image95.png"/><Relationship Id="rId3" Type="http://schemas.openxmlformats.org/officeDocument/2006/relationships/image" Target="../media/image73.png"/><Relationship Id="rId21" Type="http://schemas.openxmlformats.org/officeDocument/2006/relationships/image" Target="../media/image90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5" Type="http://schemas.openxmlformats.org/officeDocument/2006/relationships/image" Target="../media/image9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24" Type="http://schemas.openxmlformats.org/officeDocument/2006/relationships/image" Target="../media/image93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23" Type="http://schemas.openxmlformats.org/officeDocument/2006/relationships/image" Target="../media/image92.png"/><Relationship Id="rId10" Type="http://schemas.openxmlformats.org/officeDocument/2006/relationships/image" Target="../media/image79.png"/><Relationship Id="rId19" Type="http://schemas.openxmlformats.org/officeDocument/2006/relationships/image" Target="../media/image88.png"/><Relationship Id="rId4" Type="http://schemas.openxmlformats.org/officeDocument/2006/relationships/image" Target="../media/image11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Relationship Id="rId22" Type="http://schemas.openxmlformats.org/officeDocument/2006/relationships/image" Target="../media/image9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3" Type="http://schemas.openxmlformats.org/officeDocument/2006/relationships/image" Target="../media/image10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5" Type="http://schemas.openxmlformats.org/officeDocument/2006/relationships/image" Target="../media/image106.png"/><Relationship Id="rId10" Type="http://schemas.openxmlformats.org/officeDocument/2006/relationships/image" Target="../media/image101.png"/><Relationship Id="rId4" Type="http://schemas.openxmlformats.org/officeDocument/2006/relationships/image" Target="../media/image11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381250" cy="2381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0" y="4000500"/>
            <a:ext cx="1905000" cy="1905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8742" y="0"/>
            <a:ext cx="8634517" cy="638418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8742" y="0"/>
            <a:ext cx="8634517" cy="844158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5588" y="4981575"/>
            <a:ext cx="219075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9400" y="5287275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8925" y="5607050"/>
            <a:ext cx="15240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626745" y="2076450"/>
            <a:ext cx="1093851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LAWYER PORTFOLIO PROJECT</a:t>
            </a:r>
            <a:endParaRPr lang="en-US" sz="4500" dirty="0"/>
          </a:p>
        </p:txBody>
      </p:sp>
      <p:sp>
        <p:nvSpPr>
          <p:cNvPr id="12" name="Text 1"/>
          <p:cNvSpPr/>
          <p:nvPr/>
        </p:nvSpPr>
        <p:spPr>
          <a:xfrm>
            <a:off x="626745" y="3143250"/>
            <a:ext cx="109385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kern="0" spc="3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Professional Digital Presence for Criminal Defense</a:t>
            </a:r>
            <a:endParaRPr lang="en-US" sz="1500" dirty="0"/>
          </a:p>
        </p:txBody>
      </p:sp>
      <p:sp>
        <p:nvSpPr>
          <p:cNvPr id="13" name="Text 2"/>
          <p:cNvSpPr/>
          <p:nvPr/>
        </p:nvSpPr>
        <p:spPr>
          <a:xfrm>
            <a:off x="4171488" y="4914900"/>
            <a:ext cx="516301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Front-End Architecture: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Ali Ahmed Mohamed 320240162</a:t>
            </a:r>
            <a:endParaRPr lang="en-US" sz="1350" dirty="0"/>
          </a:p>
        </p:txBody>
      </p:sp>
      <p:sp>
        <p:nvSpPr>
          <p:cNvPr id="14" name="Text 3"/>
          <p:cNvSpPr/>
          <p:nvPr/>
        </p:nvSpPr>
        <p:spPr>
          <a:xfrm>
            <a:off x="3255471" y="5236317"/>
            <a:ext cx="634168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Back-End Logic :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Omar Mahmoud Ali 320240187</a:t>
            </a:r>
            <a:endParaRPr lang="en-US" sz="1350" dirty="0"/>
          </a:p>
        </p:txBody>
      </p:sp>
      <p:sp>
        <p:nvSpPr>
          <p:cNvPr id="15" name="Text 4"/>
          <p:cNvSpPr/>
          <p:nvPr/>
        </p:nvSpPr>
        <p:spPr>
          <a:xfrm>
            <a:off x="4082355" y="5566517"/>
            <a:ext cx="35700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Supervised by: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Dr. Ahmed Anter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4307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98106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2151" y="1714500"/>
            <a:ext cx="6318349" cy="400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6951" y="259080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06963" y="2667000"/>
            <a:ext cx="25717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06951" y="36195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92676" y="3695700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6951" y="46482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49826" y="4724400"/>
            <a:ext cx="171450" cy="3048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Introduction &amp; Objective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914400" y="1714500"/>
            <a:ext cx="442585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15" name="Text 2"/>
          <p:cNvSpPr/>
          <p:nvPr/>
        </p:nvSpPr>
        <p:spPr>
          <a:xfrm>
            <a:off x="571500" y="2171700"/>
            <a:ext cx="4425851" cy="13930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were commissioned to create a digital portfolio for "Mr. X", a high-profile criminal defense attorney. This wasn't just another website—it was a strategic lead-generation tool designed to transform online visitors into client consultations.</a:t>
            </a:r>
            <a:endParaRPr lang="en-US" sz="1350" dirty="0"/>
          </a:p>
        </p:txBody>
      </p:sp>
      <p:sp>
        <p:nvSpPr>
          <p:cNvPr id="16" name="Text 3"/>
          <p:cNvSpPr/>
          <p:nvPr/>
        </p:nvSpPr>
        <p:spPr>
          <a:xfrm>
            <a:off x="914400" y="3869531"/>
            <a:ext cx="442585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17" name="Text 4"/>
          <p:cNvSpPr/>
          <p:nvPr/>
        </p:nvSpPr>
        <p:spPr>
          <a:xfrm>
            <a:off x="571500" y="4326731"/>
            <a:ext cx="4425851" cy="1114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Rather than creating a standard legal website, we developed a professional interface that establishes immediate credibility while being optimized to capture potential client information.</a:t>
            </a:r>
            <a:endParaRPr lang="en-US" sz="1350" dirty="0"/>
          </a:p>
        </p:txBody>
      </p:sp>
      <p:sp>
        <p:nvSpPr>
          <p:cNvPr id="18" name="Text 5"/>
          <p:cNvSpPr/>
          <p:nvPr/>
        </p:nvSpPr>
        <p:spPr>
          <a:xfrm>
            <a:off x="5606951" y="2019300"/>
            <a:ext cx="570874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Objectives:</a:t>
            </a:r>
            <a:endParaRPr lang="en-US" sz="1800" dirty="0"/>
          </a:p>
        </p:txBody>
      </p:sp>
      <p:sp>
        <p:nvSpPr>
          <p:cNvPr id="19" name="Text 6"/>
          <p:cNvSpPr/>
          <p:nvPr/>
        </p:nvSpPr>
        <p:spPr>
          <a:xfrm>
            <a:off x="6216551" y="2552700"/>
            <a:ext cx="61189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Establish Immediate Credibility</a:t>
            </a:r>
            <a:endParaRPr lang="en-US" sz="1500" dirty="0"/>
          </a:p>
        </p:txBody>
      </p:sp>
      <p:sp>
        <p:nvSpPr>
          <p:cNvPr id="20" name="Text 7"/>
          <p:cNvSpPr/>
          <p:nvPr/>
        </p:nvSpPr>
        <p:spPr>
          <a:xfrm>
            <a:off x="6216551" y="2895600"/>
            <a:ext cx="509914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a professional online presence that immediately communicates expertise and authority in criminal defense law.</a:t>
            </a:r>
            <a:endParaRPr lang="en-US" sz="1200" dirty="0"/>
          </a:p>
        </p:txBody>
      </p:sp>
      <p:sp>
        <p:nvSpPr>
          <p:cNvPr id="21" name="Text 8"/>
          <p:cNvSpPr/>
          <p:nvPr/>
        </p:nvSpPr>
        <p:spPr>
          <a:xfrm>
            <a:off x="6216551" y="3581400"/>
            <a:ext cx="61189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Drive Client Consultations</a:t>
            </a:r>
            <a:endParaRPr lang="en-US" sz="1500" dirty="0"/>
          </a:p>
        </p:txBody>
      </p:sp>
      <p:sp>
        <p:nvSpPr>
          <p:cNvPr id="22" name="Text 9"/>
          <p:cNvSpPr/>
          <p:nvPr/>
        </p:nvSpPr>
        <p:spPr>
          <a:xfrm>
            <a:off x="6216551" y="3924300"/>
            <a:ext cx="509914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 a responsive interface that encourages potential clients to take action and schedule consultations.</a:t>
            </a:r>
            <a:endParaRPr lang="en-US" sz="1200" dirty="0"/>
          </a:p>
        </p:txBody>
      </p:sp>
      <p:sp>
        <p:nvSpPr>
          <p:cNvPr id="23" name="Text 10"/>
          <p:cNvSpPr/>
          <p:nvPr/>
        </p:nvSpPr>
        <p:spPr>
          <a:xfrm>
            <a:off x="6216551" y="4610100"/>
            <a:ext cx="61189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Responsive Professional Interface</a:t>
            </a:r>
            <a:endParaRPr lang="en-US" sz="1500" dirty="0"/>
          </a:p>
        </p:txBody>
      </p:sp>
      <p:sp>
        <p:nvSpPr>
          <p:cNvPr id="24" name="Text 11"/>
          <p:cNvSpPr/>
          <p:nvPr/>
        </p:nvSpPr>
        <p:spPr>
          <a:xfrm>
            <a:off x="6216551" y="4953000"/>
            <a:ext cx="509914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 the digital asset works seamlessly across all devices, providing a premium experience for all users.</a:t>
            </a:r>
            <a:endParaRPr lang="en-US" sz="1200" dirty="0"/>
          </a:p>
        </p:txBody>
      </p:sp>
      <p:sp>
        <p:nvSpPr>
          <p:cNvPr id="25" name="Text 12"/>
          <p:cNvSpPr/>
          <p:nvPr/>
        </p:nvSpPr>
        <p:spPr>
          <a:xfrm>
            <a:off x="11468844" y="64008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 /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90650"/>
            <a:ext cx="5410200" cy="1181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581150"/>
            <a:ext cx="219075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390650"/>
            <a:ext cx="5410200" cy="1181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581150"/>
            <a:ext cx="3238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800350"/>
            <a:ext cx="11049000" cy="1828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019425"/>
            <a:ext cx="22860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6766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9814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18550" y="3371850"/>
            <a:ext cx="1066800" cy="10668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1133475" y="1581150"/>
            <a:ext cx="55892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Unresponsive on Mobile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1133475" y="1924050"/>
            <a:ext cx="46577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Incompatible with mobile devices, creating poor user experience and lost opportunities.</a:t>
            </a:r>
            <a:endParaRPr lang="en-US" sz="1200" dirty="0"/>
          </a:p>
        </p:txBody>
      </p:sp>
      <p:sp>
        <p:nvSpPr>
          <p:cNvPr id="16" name="Text 3"/>
          <p:cNvSpPr/>
          <p:nvPr/>
        </p:nvSpPr>
        <p:spPr>
          <a:xfrm>
            <a:off x="6877050" y="158115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Text-Heavy Content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6877050" y="1924050"/>
            <a:ext cx="4552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Excessive text that overwhelms visitors and makes it difficult to find key information.</a:t>
            </a:r>
            <a:endParaRPr lang="en-US" sz="1200" dirty="0"/>
          </a:p>
        </p:txBody>
      </p:sp>
      <p:sp>
        <p:nvSpPr>
          <p:cNvPr id="18" name="Text 5"/>
          <p:cNvSpPr/>
          <p:nvPr/>
        </p:nvSpPr>
        <p:spPr>
          <a:xfrm>
            <a:off x="1104900" y="2990850"/>
            <a:ext cx="10668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Resulting Impact</a:t>
            </a:r>
            <a:endParaRPr lang="en-US" sz="1800" dirty="0"/>
          </a:p>
        </p:txBody>
      </p:sp>
      <p:sp>
        <p:nvSpPr>
          <p:cNvPr id="19" name="Text 6"/>
          <p:cNvSpPr/>
          <p:nvPr/>
        </p:nvSpPr>
        <p:spPr>
          <a:xfrm>
            <a:off x="1028700" y="3619500"/>
            <a:ext cx="330023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Lost leads from potential clients</a:t>
            </a:r>
            <a:endParaRPr lang="en-US" sz="1350" dirty="0"/>
          </a:p>
        </p:txBody>
      </p:sp>
      <p:sp>
        <p:nvSpPr>
          <p:cNvPr id="20" name="Text 7"/>
          <p:cNvSpPr/>
          <p:nvPr/>
        </p:nvSpPr>
        <p:spPr>
          <a:xfrm>
            <a:off x="1028700" y="3924300"/>
            <a:ext cx="236529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Weak market presence</a:t>
            </a:r>
            <a:endParaRPr lang="en-US" sz="1350" dirty="0"/>
          </a:p>
        </p:txBody>
      </p:sp>
      <p:sp>
        <p:nvSpPr>
          <p:cNvPr id="21" name="Text 8"/>
          <p:cNvSpPr/>
          <p:nvPr/>
        </p:nvSpPr>
        <p:spPr>
          <a:xfrm>
            <a:off x="11468844" y="64008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 / 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4307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57513"/>
            <a:ext cx="4425851" cy="1104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91013"/>
            <a:ext cx="4425851" cy="1104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2151" y="1743075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2151" y="2247900"/>
            <a:ext cx="6318349" cy="1905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0751" y="24955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7951" y="24955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5732" y="281940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06232" y="29718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4277" y="281940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70489" y="2971800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1859" y="2819400"/>
            <a:ext cx="6096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96646" y="2971800"/>
            <a:ext cx="20002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02151" y="441960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37525" y="441960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02151" y="525780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37525" y="5257800"/>
            <a:ext cx="190500" cy="2667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Solution &amp; Market Strategy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914400" y="1714500"/>
            <a:ext cx="531102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Approach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571500" y="2171700"/>
            <a:ext cx="4425851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strategy focused on </a:t>
            </a:r>
            <a:r>
              <a:rPr lang="en-US" sz="135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Personal Branding</a:t>
            </a: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that would differentiate the attorney from competitors.</a:t>
            </a:r>
            <a:endParaRPr lang="en-US" sz="1350" dirty="0"/>
          </a:p>
        </p:txBody>
      </p:sp>
      <p:sp>
        <p:nvSpPr>
          <p:cNvPr id="24" name="Text 3"/>
          <p:cNvSpPr/>
          <p:nvPr/>
        </p:nvSpPr>
        <p:spPr>
          <a:xfrm>
            <a:off x="723900" y="3109913"/>
            <a:ext cx="49452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Competitor Analysis</a:t>
            </a:r>
            <a:endParaRPr lang="en-US" sz="1500" dirty="0"/>
          </a:p>
        </p:txBody>
      </p:sp>
      <p:sp>
        <p:nvSpPr>
          <p:cNvPr id="25" name="Text 4"/>
          <p:cNvSpPr/>
          <p:nvPr/>
        </p:nvSpPr>
        <p:spPr>
          <a:xfrm>
            <a:off x="723900" y="3452813"/>
            <a:ext cx="412105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Traditional websites are outdated, text-heavy, and unresponsive on mobile devices.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723900" y="4443413"/>
            <a:ext cx="41210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27" name="Text 6"/>
          <p:cNvSpPr/>
          <p:nvPr/>
        </p:nvSpPr>
        <p:spPr>
          <a:xfrm>
            <a:off x="723900" y="4786313"/>
            <a:ext cx="412105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Move away from standard designs to create a distinctive digital presence.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5645051" y="1714500"/>
            <a:ext cx="631834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Design Execution</a:t>
            </a:r>
            <a:endParaRPr lang="en-US" sz="1800" dirty="0"/>
          </a:p>
        </p:txBody>
      </p:sp>
      <p:sp>
        <p:nvSpPr>
          <p:cNvPr id="29" name="Text 8"/>
          <p:cNvSpPr/>
          <p:nvPr/>
        </p:nvSpPr>
        <p:spPr>
          <a:xfrm>
            <a:off x="6292751" y="2476500"/>
            <a:ext cx="16637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Dark Mode Aesthetic</a:t>
            </a:r>
            <a:endParaRPr lang="en-US" sz="1050" dirty="0"/>
          </a:p>
        </p:txBody>
      </p:sp>
      <p:sp>
        <p:nvSpPr>
          <p:cNvPr id="30" name="Text 9"/>
          <p:cNvSpPr/>
          <p:nvPr/>
        </p:nvSpPr>
        <p:spPr>
          <a:xfrm>
            <a:off x="5530751" y="3505200"/>
            <a:ext cx="93547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Deep Greys</a:t>
            </a:r>
            <a:endParaRPr lang="en-US" sz="1050" dirty="0"/>
          </a:p>
        </p:txBody>
      </p:sp>
      <p:sp>
        <p:nvSpPr>
          <p:cNvPr id="31" name="Text 10"/>
          <p:cNvSpPr/>
          <p:nvPr/>
        </p:nvSpPr>
        <p:spPr>
          <a:xfrm>
            <a:off x="6462713" y="3505200"/>
            <a:ext cx="10474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Gold Accents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7487989" y="3505200"/>
            <a:ext cx="74080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Authority</a:t>
            </a:r>
            <a:endParaRPr lang="en-US" sz="1050" dirty="0"/>
          </a:p>
        </p:txBody>
      </p:sp>
      <p:sp>
        <p:nvSpPr>
          <p:cNvPr id="33" name="Text 12"/>
          <p:cNvSpPr/>
          <p:nvPr/>
        </p:nvSpPr>
        <p:spPr>
          <a:xfrm>
            <a:off x="5606951" y="4381500"/>
            <a:ext cx="33338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Luxury Positioning</a:t>
            </a:r>
            <a:endParaRPr lang="en-US" sz="1350" dirty="0"/>
          </a:p>
        </p:txBody>
      </p:sp>
      <p:sp>
        <p:nvSpPr>
          <p:cNvPr id="34" name="Text 13"/>
          <p:cNvSpPr/>
          <p:nvPr/>
        </p:nvSpPr>
        <p:spPr>
          <a:xfrm>
            <a:off x="5606951" y="4686300"/>
            <a:ext cx="27781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Conveys premium services suitable for high-profile clients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8842325" y="4381500"/>
            <a:ext cx="31428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Emotional Connection</a:t>
            </a:r>
            <a:endParaRPr lang="en-US" sz="1350" dirty="0"/>
          </a:p>
        </p:txBody>
      </p:sp>
      <p:sp>
        <p:nvSpPr>
          <p:cNvPr id="36" name="Text 15"/>
          <p:cNvSpPr/>
          <p:nvPr/>
        </p:nvSpPr>
        <p:spPr>
          <a:xfrm>
            <a:off x="8842325" y="4686300"/>
            <a:ext cx="314289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Creates immediate trust and credibility</a:t>
            </a:r>
            <a:endParaRPr lang="en-US" sz="1050" dirty="0"/>
          </a:p>
        </p:txBody>
      </p:sp>
      <p:sp>
        <p:nvSpPr>
          <p:cNvPr id="37" name="Text 16"/>
          <p:cNvSpPr/>
          <p:nvPr/>
        </p:nvSpPr>
        <p:spPr>
          <a:xfrm>
            <a:off x="5606951" y="5219700"/>
            <a:ext cx="33338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Differentiation</a:t>
            </a:r>
            <a:endParaRPr lang="en-US" sz="1350" dirty="0"/>
          </a:p>
        </p:txBody>
      </p:sp>
      <p:sp>
        <p:nvSpPr>
          <p:cNvPr id="38" name="Text 17"/>
          <p:cNvSpPr/>
          <p:nvPr/>
        </p:nvSpPr>
        <p:spPr>
          <a:xfrm>
            <a:off x="5606951" y="5524500"/>
            <a:ext cx="27781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Stands out in a crowded legal marketplace</a:t>
            </a:r>
            <a:endParaRPr lang="en-US" sz="1050" dirty="0"/>
          </a:p>
        </p:txBody>
      </p:sp>
      <p:sp>
        <p:nvSpPr>
          <p:cNvPr id="39" name="Text 18"/>
          <p:cNvSpPr/>
          <p:nvPr/>
        </p:nvSpPr>
        <p:spPr>
          <a:xfrm>
            <a:off x="8842325" y="5219700"/>
            <a:ext cx="33338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Client Acquisition</a:t>
            </a:r>
            <a:endParaRPr lang="en-US" sz="1350" dirty="0"/>
          </a:p>
        </p:txBody>
      </p:sp>
      <p:sp>
        <p:nvSpPr>
          <p:cNvPr id="40" name="Text 19"/>
          <p:cNvSpPr/>
          <p:nvPr/>
        </p:nvSpPr>
        <p:spPr>
          <a:xfrm>
            <a:off x="8842325" y="5524500"/>
            <a:ext cx="27781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Attracts high-net-worth individuals seeking top legal representation</a:t>
            </a:r>
            <a:endParaRPr lang="en-US" sz="1050" dirty="0"/>
          </a:p>
        </p:txBody>
      </p:sp>
      <p:sp>
        <p:nvSpPr>
          <p:cNvPr id="41" name="Text 20"/>
          <p:cNvSpPr/>
          <p:nvPr/>
        </p:nvSpPr>
        <p:spPr>
          <a:xfrm>
            <a:off x="11468844" y="64008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 / 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562100"/>
            <a:ext cx="5257800" cy="426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7907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1924050"/>
            <a:ext cx="3619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0480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3909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7338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0767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675" y="523875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5353050"/>
            <a:ext cx="14287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3975" y="523875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7800" y="5353050"/>
            <a:ext cx="14287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9275" y="523875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28812" y="5353050"/>
            <a:ext cx="17145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1562100"/>
            <a:ext cx="5257800" cy="3543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1790700"/>
            <a:ext cx="609600" cy="609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15125" y="1924050"/>
            <a:ext cx="28575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783" y="44577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783" y="47625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6742" y="340995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375285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4495800"/>
            <a:ext cx="3810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57975" y="4552950"/>
            <a:ext cx="171450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0" y="4495800"/>
            <a:ext cx="3810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53275" y="4552950"/>
            <a:ext cx="171450" cy="2667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Methodology &amp; Team Roles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609600" y="1028700"/>
            <a:ext cx="10972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Dividing responsibilities for optimal delivery</a:t>
            </a:r>
            <a:endParaRPr lang="en-US" sz="1200" dirty="0"/>
          </a:p>
        </p:txBody>
      </p:sp>
      <p:sp>
        <p:nvSpPr>
          <p:cNvPr id="32" name="Text 2"/>
          <p:cNvSpPr/>
          <p:nvPr/>
        </p:nvSpPr>
        <p:spPr>
          <a:xfrm>
            <a:off x="1600200" y="1828800"/>
            <a:ext cx="205382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Ali Ahmed</a:t>
            </a:r>
            <a:endParaRPr lang="en-US" sz="1800" dirty="0"/>
          </a:p>
        </p:txBody>
      </p:sp>
      <p:sp>
        <p:nvSpPr>
          <p:cNvPr id="33" name="Text 3"/>
          <p:cNvSpPr/>
          <p:nvPr/>
        </p:nvSpPr>
        <p:spPr>
          <a:xfrm>
            <a:off x="1600200" y="2133600"/>
            <a:ext cx="20538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Front-End Architecture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838200" y="2628900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Responsibilities:</a:t>
            </a:r>
            <a:endParaRPr lang="en-US" sz="1500" dirty="0"/>
          </a:p>
        </p:txBody>
      </p:sp>
      <p:sp>
        <p:nvSpPr>
          <p:cNvPr id="35" name="Text 5"/>
          <p:cNvSpPr/>
          <p:nvPr/>
        </p:nvSpPr>
        <p:spPr>
          <a:xfrm>
            <a:off x="1104900" y="3009900"/>
            <a:ext cx="303395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Built responsive HTML5 structure</a:t>
            </a:r>
            <a:endParaRPr lang="en-US" sz="1200" dirty="0"/>
          </a:p>
        </p:txBody>
      </p:sp>
      <p:sp>
        <p:nvSpPr>
          <p:cNvPr id="36" name="Text 6"/>
          <p:cNvSpPr/>
          <p:nvPr/>
        </p:nvSpPr>
        <p:spPr>
          <a:xfrm>
            <a:off x="1104900" y="3352800"/>
            <a:ext cx="26444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Created CSS3 styling system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1104900" y="3695700"/>
            <a:ext cx="266390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Implemented flexbox layouts</a:t>
            </a:r>
            <a:endParaRPr lang="en-US" sz="1200" dirty="0"/>
          </a:p>
        </p:txBody>
      </p:sp>
      <p:sp>
        <p:nvSpPr>
          <p:cNvPr id="38" name="Text 8"/>
          <p:cNvSpPr/>
          <p:nvPr/>
        </p:nvSpPr>
        <p:spPr>
          <a:xfrm>
            <a:off x="1104900" y="4038600"/>
            <a:ext cx="366206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Developed mobile-first design approach</a:t>
            </a:r>
            <a:endParaRPr lang="en-US" sz="1200" dirty="0"/>
          </a:p>
        </p:txBody>
      </p:sp>
      <p:sp>
        <p:nvSpPr>
          <p:cNvPr id="39" name="Text 9"/>
          <p:cNvSpPr/>
          <p:nvPr/>
        </p:nvSpPr>
        <p:spPr>
          <a:xfrm>
            <a:off x="7315200" y="1828800"/>
            <a:ext cx="282410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Omar Mahmoud</a:t>
            </a:r>
            <a:endParaRPr lang="en-US" sz="1800" dirty="0"/>
          </a:p>
        </p:txBody>
      </p:sp>
      <p:sp>
        <p:nvSpPr>
          <p:cNvPr id="40" name="Text 10"/>
          <p:cNvSpPr/>
          <p:nvPr/>
        </p:nvSpPr>
        <p:spPr>
          <a:xfrm>
            <a:off x="7315200" y="2133600"/>
            <a:ext cx="28241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Back-End Logic &amp; Functionality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6553200" y="2628900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Responsibilities:</a:t>
            </a:r>
            <a:endParaRPr lang="en-US" sz="1500" dirty="0"/>
          </a:p>
        </p:txBody>
      </p:sp>
      <p:sp>
        <p:nvSpPr>
          <p:cNvPr id="42" name="Text 12"/>
          <p:cNvSpPr/>
          <p:nvPr/>
        </p:nvSpPr>
        <p:spPr>
          <a:xfrm>
            <a:off x="1104900" y="4410075"/>
            <a:ext cx="367867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Handled JavaScript 'backend' simulation</a:t>
            </a:r>
            <a:endParaRPr lang="en-US" sz="1200" dirty="0"/>
          </a:p>
        </p:txBody>
      </p:sp>
      <p:sp>
        <p:nvSpPr>
          <p:cNvPr id="43" name="Text 13"/>
          <p:cNvSpPr/>
          <p:nvPr/>
        </p:nvSpPr>
        <p:spPr>
          <a:xfrm>
            <a:off x="6819900" y="3352800"/>
            <a:ext cx="33093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Built data structures for FAQ system</a:t>
            </a:r>
            <a:endParaRPr lang="en-US" sz="1200" dirty="0"/>
          </a:p>
        </p:txBody>
      </p:sp>
      <p:sp>
        <p:nvSpPr>
          <p:cNvPr id="44" name="Text 14"/>
          <p:cNvSpPr/>
          <p:nvPr/>
        </p:nvSpPr>
        <p:spPr>
          <a:xfrm>
            <a:off x="1096667" y="4728633"/>
            <a:ext cx="428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Created event-handling logic for contact forms</a:t>
            </a: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6794500" y="3695700"/>
            <a:ext cx="40155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Implemented dynamic content functionality</a:t>
            </a:r>
            <a:endParaRPr lang="en-US" sz="1200" dirty="0"/>
          </a:p>
        </p:txBody>
      </p:sp>
      <p:sp>
        <p:nvSpPr>
          <p:cNvPr id="46" name="Text 16"/>
          <p:cNvSpPr/>
          <p:nvPr/>
        </p:nvSpPr>
        <p:spPr>
          <a:xfrm>
            <a:off x="11468844" y="64008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 / 8</a:t>
            </a:r>
            <a:endParaRPr lang="en-US" sz="1200" dirty="0"/>
          </a:p>
        </p:txBody>
      </p:sp>
      <p:pic>
        <p:nvPicPr>
          <p:cNvPr id="47" name="Image 20" descr="preencoded.png">
            <a:extLst>
              <a:ext uri="{FF2B5EF4-FFF2-40B4-BE49-F238E27FC236}">
                <a16:creationId xmlns:a16="http://schemas.microsoft.com/office/drawing/2014/main" id="{EF997E60-4446-C429-BC5D-5234F6B85D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6742" y="3039533"/>
            <a:ext cx="152400" cy="152400"/>
          </a:xfrm>
          <a:prstGeom prst="rect">
            <a:avLst/>
          </a:prstGeom>
        </p:spPr>
      </p:pic>
      <p:sp>
        <p:nvSpPr>
          <p:cNvPr id="48" name="Text 13">
            <a:extLst>
              <a:ext uri="{FF2B5EF4-FFF2-40B4-BE49-F238E27FC236}">
                <a16:creationId xmlns:a16="http://schemas.microsoft.com/office/drawing/2014/main" id="{9FD2026D-928B-2A51-FD09-4E877FFF5EBF}"/>
              </a:ext>
            </a:extLst>
          </p:cNvPr>
          <p:cNvSpPr/>
          <p:nvPr/>
        </p:nvSpPr>
        <p:spPr>
          <a:xfrm>
            <a:off x="6743700" y="3001433"/>
            <a:ext cx="33093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Expanding the JavaScript simulation to a real backend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38400"/>
            <a:ext cx="1967954" cy="1676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0603" y="26289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1103" y="27813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2890" y="3048000"/>
            <a:ext cx="952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1724" y="2438400"/>
            <a:ext cx="1967954" cy="1676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0827" y="2628900"/>
            <a:ext cx="6096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25614" y="2781300"/>
            <a:ext cx="20002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3114" y="3048000"/>
            <a:ext cx="952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11948" y="2438400"/>
            <a:ext cx="1967954" cy="1676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1051" y="262890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52976" y="2781300"/>
            <a:ext cx="2857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3338" y="3048000"/>
            <a:ext cx="952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82173" y="2438400"/>
            <a:ext cx="1967954" cy="1943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61275" y="2628900"/>
            <a:ext cx="6096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37488" y="2781300"/>
            <a:ext cx="257175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3563" y="3048000"/>
            <a:ext cx="952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52397" y="2438400"/>
            <a:ext cx="1967954" cy="1676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31500" y="2628900"/>
            <a:ext cx="609600" cy="609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22000" y="2781300"/>
            <a:ext cx="2286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4991100"/>
            <a:ext cx="11049000" cy="1066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0100" y="5257800"/>
            <a:ext cx="190500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0100" y="5638800"/>
            <a:ext cx="1143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81500" y="56388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962900" y="5638800"/>
            <a:ext cx="1524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Proposed Architecture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571500" y="1714500"/>
            <a:ext cx="1325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Single-Page Architecture</a:t>
            </a: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for optimal speed and user experience.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603305" y="3390900"/>
            <a:ext cx="19043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Hero Section</a:t>
            </a:r>
            <a:endParaRPr lang="en-US" sz="1500" dirty="0"/>
          </a:p>
        </p:txBody>
      </p:sp>
      <p:sp>
        <p:nvSpPr>
          <p:cNvPr id="31" name="Text 3"/>
          <p:cNvSpPr/>
          <p:nvPr/>
        </p:nvSpPr>
        <p:spPr>
          <a:xfrm>
            <a:off x="603305" y="3733800"/>
            <a:ext cx="190434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Value proposition</a:t>
            </a:r>
            <a:endParaRPr lang="en-US" sz="1050" dirty="0"/>
          </a:p>
        </p:txBody>
      </p:sp>
      <p:sp>
        <p:nvSpPr>
          <p:cNvPr id="32" name="Text 4"/>
          <p:cNvSpPr/>
          <p:nvPr/>
        </p:nvSpPr>
        <p:spPr>
          <a:xfrm>
            <a:off x="3032224" y="3390900"/>
            <a:ext cx="158695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About</a:t>
            </a:r>
            <a:endParaRPr lang="en-US" sz="1500" dirty="0"/>
          </a:p>
        </p:txBody>
      </p:sp>
      <p:sp>
        <p:nvSpPr>
          <p:cNvPr id="33" name="Text 5"/>
          <p:cNvSpPr/>
          <p:nvPr/>
        </p:nvSpPr>
        <p:spPr>
          <a:xfrm>
            <a:off x="2873529" y="3733800"/>
            <a:ext cx="190434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Credibility and history</a:t>
            </a:r>
            <a:endParaRPr lang="en-US" sz="1050" dirty="0"/>
          </a:p>
        </p:txBody>
      </p:sp>
      <p:sp>
        <p:nvSpPr>
          <p:cNvPr id="34" name="Text 6"/>
          <p:cNvSpPr/>
          <p:nvPr/>
        </p:nvSpPr>
        <p:spPr>
          <a:xfrm>
            <a:off x="5143753" y="3390900"/>
            <a:ext cx="19043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Practice Areas</a:t>
            </a:r>
            <a:endParaRPr lang="en-US" sz="1500" dirty="0"/>
          </a:p>
        </p:txBody>
      </p:sp>
      <p:sp>
        <p:nvSpPr>
          <p:cNvPr id="35" name="Text 7"/>
          <p:cNvSpPr/>
          <p:nvPr/>
        </p:nvSpPr>
        <p:spPr>
          <a:xfrm>
            <a:off x="5143753" y="3733800"/>
            <a:ext cx="190434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Service categorization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7572673" y="3390900"/>
            <a:ext cx="1586954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Client Resources</a:t>
            </a:r>
            <a:endParaRPr lang="en-US" sz="1500" dirty="0"/>
          </a:p>
        </p:txBody>
      </p:sp>
      <p:sp>
        <p:nvSpPr>
          <p:cNvPr id="37" name="Text 9"/>
          <p:cNvSpPr/>
          <p:nvPr/>
        </p:nvSpPr>
        <p:spPr>
          <a:xfrm>
            <a:off x="7413977" y="4000500"/>
            <a:ext cx="190434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Dynamic FAQ engine</a:t>
            </a:r>
            <a:endParaRPr lang="en-US" sz="1050" dirty="0"/>
          </a:p>
        </p:txBody>
      </p:sp>
      <p:sp>
        <p:nvSpPr>
          <p:cNvPr id="38" name="Text 10"/>
          <p:cNvSpPr/>
          <p:nvPr/>
        </p:nvSpPr>
        <p:spPr>
          <a:xfrm>
            <a:off x="9684201" y="3390900"/>
            <a:ext cx="19043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Lead Capture</a:t>
            </a:r>
            <a:endParaRPr lang="en-US" sz="1500" dirty="0"/>
          </a:p>
        </p:txBody>
      </p:sp>
      <p:sp>
        <p:nvSpPr>
          <p:cNvPr id="39" name="Text 11"/>
          <p:cNvSpPr/>
          <p:nvPr/>
        </p:nvSpPr>
        <p:spPr>
          <a:xfrm>
            <a:off x="9684201" y="3733800"/>
            <a:ext cx="190434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Contact interface</a:t>
            </a:r>
            <a:endParaRPr lang="en-US" sz="1050" dirty="0"/>
          </a:p>
        </p:txBody>
      </p:sp>
      <p:sp>
        <p:nvSpPr>
          <p:cNvPr id="40" name="Text 12"/>
          <p:cNvSpPr/>
          <p:nvPr/>
        </p:nvSpPr>
        <p:spPr>
          <a:xfrm>
            <a:off x="1066800" y="5219700"/>
            <a:ext cx="1059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</a:t>
            </a:r>
            <a:endParaRPr lang="en-US" sz="1500" dirty="0"/>
          </a:p>
        </p:txBody>
      </p:sp>
      <p:sp>
        <p:nvSpPr>
          <p:cNvPr id="41" name="Text 13"/>
          <p:cNvSpPr/>
          <p:nvPr/>
        </p:nvSpPr>
        <p:spPr>
          <a:xfrm>
            <a:off x="990600" y="5600700"/>
            <a:ext cx="18836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Improved load times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4610100" y="5600700"/>
            <a:ext cx="189630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Seamless navigation</a:t>
            </a:r>
            <a:endParaRPr lang="en-US" sz="1200" dirty="0"/>
          </a:p>
        </p:txBody>
      </p:sp>
      <p:sp>
        <p:nvSpPr>
          <p:cNvPr id="43" name="Text 15"/>
          <p:cNvSpPr/>
          <p:nvPr/>
        </p:nvSpPr>
        <p:spPr>
          <a:xfrm>
            <a:off x="8191500" y="5600700"/>
            <a:ext cx="21892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Higher conversion rates</a:t>
            </a:r>
            <a:endParaRPr lang="en-US" sz="1200" dirty="0"/>
          </a:p>
        </p:txBody>
      </p:sp>
      <p:sp>
        <p:nvSpPr>
          <p:cNvPr id="44" name="Text 16"/>
          <p:cNvSpPr/>
          <p:nvPr/>
        </p:nvSpPr>
        <p:spPr>
          <a:xfrm>
            <a:off x="11468844" y="64008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 / 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43075"/>
            <a:ext cx="17145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09800"/>
            <a:ext cx="4470350" cy="1447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3622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863" y="2419350"/>
            <a:ext cx="2190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10000"/>
            <a:ext cx="4470350" cy="1447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39624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338" y="4019550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410200"/>
            <a:ext cx="4470350" cy="1447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556260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963" y="5619750"/>
            <a:ext cx="14287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70450" y="1743075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70450" y="2209800"/>
            <a:ext cx="6349901" cy="2971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60950" y="2400300"/>
            <a:ext cx="5968901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60950" y="24384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58351" y="24384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86951" y="2438400"/>
            <a:ext cx="1333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96501" y="2438400"/>
            <a:ext cx="1333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60950" y="2857500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60950" y="3467100"/>
            <a:ext cx="3048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60950" y="4076700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86141" y="4724400"/>
            <a:ext cx="84713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00441" y="4791075"/>
            <a:ext cx="104775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47571" y="4724400"/>
            <a:ext cx="816322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61871" y="4791075"/>
            <a:ext cx="114300" cy="1333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78193" y="4724400"/>
            <a:ext cx="1026319" cy="266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992493" y="4791075"/>
            <a:ext cx="171450" cy="13335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Results &amp; Demo Walkthrough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857250" y="1714500"/>
            <a:ext cx="44703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Deliverables</a:t>
            </a:r>
            <a:endParaRPr lang="en-US" sz="1800" dirty="0"/>
          </a:p>
        </p:txBody>
      </p:sp>
      <p:sp>
        <p:nvSpPr>
          <p:cNvPr id="32" name="Text 2"/>
          <p:cNvSpPr/>
          <p:nvPr/>
        </p:nvSpPr>
        <p:spPr>
          <a:xfrm>
            <a:off x="1219200" y="2419350"/>
            <a:ext cx="222152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 Excellence</a:t>
            </a:r>
            <a:endParaRPr lang="en-US" sz="1500" dirty="0"/>
          </a:p>
        </p:txBody>
      </p:sp>
      <p:sp>
        <p:nvSpPr>
          <p:cNvPr id="33" name="Text 3"/>
          <p:cNvSpPr/>
          <p:nvPr/>
        </p:nvSpPr>
        <p:spPr>
          <a:xfrm>
            <a:off x="723900" y="2819400"/>
            <a:ext cx="4165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Responsive layout handled seamlessly by the CSS engine. Navigation adapts flawlessly from desktop to mobile.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1219200" y="4019550"/>
            <a:ext cx="28700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Dynamic Functionality</a:t>
            </a:r>
            <a:endParaRPr lang="en-US" sz="1500" dirty="0"/>
          </a:p>
        </p:txBody>
      </p:sp>
      <p:sp>
        <p:nvSpPr>
          <p:cNvPr id="35" name="Text 5"/>
          <p:cNvSpPr/>
          <p:nvPr/>
        </p:nvSpPr>
        <p:spPr>
          <a:xfrm>
            <a:off x="723900" y="4419600"/>
            <a:ext cx="4165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Omar's JavaScript handles data dynamically. The FAQ section pulls content from an array, acting as a lightweight database.</a:t>
            </a:r>
            <a:endParaRPr lang="en-US" sz="1200" dirty="0"/>
          </a:p>
        </p:txBody>
      </p:sp>
      <p:sp>
        <p:nvSpPr>
          <p:cNvPr id="36" name="Text 6"/>
          <p:cNvSpPr/>
          <p:nvPr/>
        </p:nvSpPr>
        <p:spPr>
          <a:xfrm>
            <a:off x="1219200" y="5619750"/>
            <a:ext cx="233207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Seamless Logging</a:t>
            </a:r>
            <a:endParaRPr lang="en-US" sz="1500" dirty="0"/>
          </a:p>
        </p:txBody>
      </p:sp>
      <p:sp>
        <p:nvSpPr>
          <p:cNvPr id="37" name="Text 7"/>
          <p:cNvSpPr/>
          <p:nvPr/>
        </p:nvSpPr>
        <p:spPr>
          <a:xfrm>
            <a:off x="723900" y="6019800"/>
            <a:ext cx="4165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contact form captures user input and creates a logging event, simulating a server-side handshake without a page reload.</a:t>
            </a:r>
            <a:endParaRPr lang="en-US" sz="1200" dirty="0"/>
          </a:p>
        </p:txBody>
      </p:sp>
      <p:sp>
        <p:nvSpPr>
          <p:cNvPr id="38" name="Text 8"/>
          <p:cNvSpPr/>
          <p:nvPr/>
        </p:nvSpPr>
        <p:spPr>
          <a:xfrm>
            <a:off x="5613350" y="1714500"/>
            <a:ext cx="63499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 Walkthrough</a:t>
            </a:r>
            <a:endParaRPr lang="en-US" sz="1800" dirty="0"/>
          </a:p>
        </p:txBody>
      </p:sp>
      <p:sp>
        <p:nvSpPr>
          <p:cNvPr id="39" name="Text 9"/>
          <p:cNvSpPr/>
          <p:nvPr/>
        </p:nvSpPr>
        <p:spPr>
          <a:xfrm>
            <a:off x="5689550" y="2400300"/>
            <a:ext cx="23552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Lawyer Portfolio Demo</a:t>
            </a:r>
            <a:endParaRPr lang="en-US" sz="1200" dirty="0"/>
          </a:p>
        </p:txBody>
      </p:sp>
      <p:sp>
        <p:nvSpPr>
          <p:cNvPr id="40" name="Text 10"/>
          <p:cNvSpPr/>
          <p:nvPr/>
        </p:nvSpPr>
        <p:spPr>
          <a:xfrm>
            <a:off x="5560219" y="2895600"/>
            <a:ext cx="1273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5880050" y="2857500"/>
            <a:ext cx="549116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Responsive Layout</a:t>
            </a:r>
            <a:endParaRPr lang="en-US" sz="1200" dirty="0"/>
          </a:p>
        </p:txBody>
      </p:sp>
      <p:sp>
        <p:nvSpPr>
          <p:cNvPr id="42" name="Text 12"/>
          <p:cNvSpPr/>
          <p:nvPr/>
        </p:nvSpPr>
        <p:spPr>
          <a:xfrm>
            <a:off x="5880050" y="3124200"/>
            <a:ext cx="658939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Observe how the navigation adapts seamlessly from desktop to mobile viewports.</a:t>
            </a:r>
            <a:endParaRPr lang="en-US" sz="1050" dirty="0"/>
          </a:p>
        </p:txBody>
      </p:sp>
      <p:sp>
        <p:nvSpPr>
          <p:cNvPr id="43" name="Text 13"/>
          <p:cNvSpPr/>
          <p:nvPr/>
        </p:nvSpPr>
        <p:spPr>
          <a:xfrm>
            <a:off x="5560219" y="3505200"/>
            <a:ext cx="1273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14"/>
          <p:cNvSpPr/>
          <p:nvPr/>
        </p:nvSpPr>
        <p:spPr>
          <a:xfrm>
            <a:off x="5880050" y="3467100"/>
            <a:ext cx="53542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FAQ Interaction</a:t>
            </a: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5880050" y="3733800"/>
            <a:ext cx="642508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Watch the dynamic FAQ engine pull content from the array without page reload.</a:t>
            </a:r>
            <a:endParaRPr lang="en-US" sz="1050" dirty="0"/>
          </a:p>
        </p:txBody>
      </p:sp>
      <p:sp>
        <p:nvSpPr>
          <p:cNvPr id="46" name="Text 16"/>
          <p:cNvSpPr/>
          <p:nvPr/>
        </p:nvSpPr>
        <p:spPr>
          <a:xfrm>
            <a:off x="5560219" y="4114800"/>
            <a:ext cx="1273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17"/>
          <p:cNvSpPr/>
          <p:nvPr/>
        </p:nvSpPr>
        <p:spPr>
          <a:xfrm>
            <a:off x="5880050" y="4076700"/>
            <a:ext cx="472886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Contact Form</a:t>
            </a:r>
            <a:endParaRPr lang="en-US" sz="1200" dirty="0"/>
          </a:p>
        </p:txBody>
      </p:sp>
      <p:sp>
        <p:nvSpPr>
          <p:cNvPr id="48" name="Text 18"/>
          <p:cNvSpPr/>
          <p:nvPr/>
        </p:nvSpPr>
        <p:spPr>
          <a:xfrm>
            <a:off x="5880050" y="4343400"/>
            <a:ext cx="56746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See the contact form capture input and create a logging event silently.</a:t>
            </a:r>
            <a:endParaRPr lang="en-US" sz="1050" dirty="0"/>
          </a:p>
        </p:txBody>
      </p:sp>
      <p:sp>
        <p:nvSpPr>
          <p:cNvPr id="49" name="Text 19"/>
          <p:cNvSpPr/>
          <p:nvPr/>
        </p:nvSpPr>
        <p:spPr>
          <a:xfrm>
            <a:off x="7281416" y="4762500"/>
            <a:ext cx="5250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Mobile</a:t>
            </a:r>
            <a:endParaRPr lang="en-US" sz="1050" dirty="0"/>
          </a:p>
        </p:txBody>
      </p:sp>
      <p:sp>
        <p:nvSpPr>
          <p:cNvPr id="50" name="Text 20"/>
          <p:cNvSpPr/>
          <p:nvPr/>
        </p:nvSpPr>
        <p:spPr>
          <a:xfrm>
            <a:off x="8252371" y="4762500"/>
            <a:ext cx="47666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Tablet</a:t>
            </a:r>
            <a:endParaRPr lang="en-US" sz="1050" dirty="0"/>
          </a:p>
        </p:txBody>
      </p:sp>
      <p:sp>
        <p:nvSpPr>
          <p:cNvPr id="51" name="Text 21"/>
          <p:cNvSpPr/>
          <p:nvPr/>
        </p:nvSpPr>
        <p:spPr>
          <a:xfrm>
            <a:off x="9240143" y="4762500"/>
            <a:ext cx="66008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Desktop</a:t>
            </a:r>
            <a:endParaRPr lang="en-US" sz="1050" dirty="0"/>
          </a:p>
        </p:txBody>
      </p:sp>
      <p:sp>
        <p:nvSpPr>
          <p:cNvPr id="52" name="Text 22"/>
          <p:cNvSpPr/>
          <p:nvPr/>
        </p:nvSpPr>
        <p:spPr>
          <a:xfrm>
            <a:off x="11468844" y="67818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 /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86000"/>
            <a:ext cx="190500" cy="19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366963"/>
            <a:ext cx="493395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0" y="22860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50" y="2366963"/>
            <a:ext cx="4933950" cy="28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228600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200400"/>
            <a:ext cx="3479750" cy="2514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505200"/>
            <a:ext cx="409575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75" y="3581400"/>
            <a:ext cx="20002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56050" y="3200400"/>
            <a:ext cx="3479750" cy="2514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4650" y="34290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98950" y="35052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40601" y="3200400"/>
            <a:ext cx="3479899" cy="2514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9201" y="34290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83501" y="3505200"/>
            <a:ext cx="228600" cy="3048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 Roadmap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571500" y="1714500"/>
            <a:ext cx="1325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 scale this product, we're planning the following development phases: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571500" y="2552700"/>
            <a:ext cx="36829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Current Phase</a:t>
            </a:r>
            <a:endParaRPr lang="en-US" sz="1050" dirty="0"/>
          </a:p>
        </p:txBody>
      </p:sp>
      <p:sp>
        <p:nvSpPr>
          <p:cNvPr id="21" name="Text 3"/>
          <p:cNvSpPr/>
          <p:nvPr/>
        </p:nvSpPr>
        <p:spPr>
          <a:xfrm>
            <a:off x="4254550" y="2552700"/>
            <a:ext cx="36829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 1</a:t>
            </a:r>
            <a:endParaRPr lang="en-US" sz="1050" dirty="0"/>
          </a:p>
        </p:txBody>
      </p:sp>
      <p:sp>
        <p:nvSpPr>
          <p:cNvPr id="22" name="Text 4"/>
          <p:cNvSpPr/>
          <p:nvPr/>
        </p:nvSpPr>
        <p:spPr>
          <a:xfrm>
            <a:off x="7937599" y="2552700"/>
            <a:ext cx="36829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 2</a:t>
            </a:r>
            <a:endParaRPr lang="en-US" sz="1050" dirty="0"/>
          </a:p>
        </p:txBody>
      </p:sp>
      <p:sp>
        <p:nvSpPr>
          <p:cNvPr id="23" name="Text 5"/>
          <p:cNvSpPr/>
          <p:nvPr/>
        </p:nvSpPr>
        <p:spPr>
          <a:xfrm>
            <a:off x="1362075" y="3429000"/>
            <a:ext cx="246057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Database Integration</a:t>
            </a:r>
            <a:endParaRPr lang="en-US" sz="1800" dirty="0"/>
          </a:p>
        </p:txBody>
      </p:sp>
      <p:sp>
        <p:nvSpPr>
          <p:cNvPr id="24" name="Text 6"/>
          <p:cNvSpPr/>
          <p:nvPr/>
        </p:nvSpPr>
        <p:spPr>
          <a:xfrm>
            <a:off x="800100" y="4191000"/>
            <a:ext cx="3022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Moving from local arrays to a SQL database for improved data management and scalability.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819150" y="5029200"/>
            <a:ext cx="3855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Structured data storage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819150" y="5257800"/>
            <a:ext cx="3855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security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5194250" y="3505200"/>
            <a:ext cx="282321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CMS Development</a:t>
            </a:r>
            <a:endParaRPr lang="en-US" sz="1800" dirty="0"/>
          </a:p>
        </p:txBody>
      </p:sp>
      <p:sp>
        <p:nvSpPr>
          <p:cNvPr id="28" name="Text 10"/>
          <p:cNvSpPr/>
          <p:nvPr/>
        </p:nvSpPr>
        <p:spPr>
          <a:xfrm>
            <a:off x="4584650" y="4038600"/>
            <a:ext cx="3022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Building an Admin Dashboard for content management without requiring technical knowledge.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4603700" y="4876800"/>
            <a:ext cx="3855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User-friendly interface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4603700" y="5105400"/>
            <a:ext cx="3855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Dynamic content updates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8978801" y="3505200"/>
            <a:ext cx="270194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SEO Optimization</a:t>
            </a:r>
            <a:endParaRPr lang="en-US" sz="1800" dirty="0"/>
          </a:p>
        </p:txBody>
      </p:sp>
      <p:sp>
        <p:nvSpPr>
          <p:cNvPr id="32" name="Text 14"/>
          <p:cNvSpPr/>
          <p:nvPr/>
        </p:nvSpPr>
        <p:spPr>
          <a:xfrm>
            <a:off x="8369201" y="4038600"/>
            <a:ext cx="30226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Optimizing metadata for search engine ranking to increase organic visibility.</a:t>
            </a:r>
            <a:endParaRPr lang="en-US" sz="1200" dirty="0"/>
          </a:p>
        </p:txBody>
      </p:sp>
      <p:sp>
        <p:nvSpPr>
          <p:cNvPr id="33" name="Text 15"/>
          <p:cNvSpPr/>
          <p:nvPr/>
        </p:nvSpPr>
        <p:spPr>
          <a:xfrm>
            <a:off x="8388251" y="4648200"/>
            <a:ext cx="38558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Improved search rankings</a:t>
            </a:r>
            <a:endParaRPr lang="en-US" sz="1200" dirty="0"/>
          </a:p>
        </p:txBody>
      </p:sp>
      <p:sp>
        <p:nvSpPr>
          <p:cNvPr id="34" name="Text 16"/>
          <p:cNvSpPr/>
          <p:nvPr/>
        </p:nvSpPr>
        <p:spPr>
          <a:xfrm>
            <a:off x="8388251" y="4876800"/>
            <a:ext cx="38558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metadata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571500" y="6096000"/>
            <a:ext cx="11049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Thank you for your attention</a:t>
            </a:r>
            <a:endParaRPr lang="en-US" sz="1800" dirty="0"/>
          </a:p>
        </p:txBody>
      </p:sp>
      <p:sp>
        <p:nvSpPr>
          <p:cNvPr id="36" name="Text 18"/>
          <p:cNvSpPr/>
          <p:nvPr/>
        </p:nvSpPr>
        <p:spPr>
          <a:xfrm>
            <a:off x="11468844" y="64008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 /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650</Words>
  <Application>Microsoft Office PowerPoint</Application>
  <PresentationFormat>Widescreen</PresentationFormat>
  <Paragraphs>133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</cp:lastModifiedBy>
  <cp:revision>5</cp:revision>
  <dcterms:created xsi:type="dcterms:W3CDTF">2025-12-26T12:16:38Z</dcterms:created>
  <dcterms:modified xsi:type="dcterms:W3CDTF">2025-12-26T12:23:20Z</dcterms:modified>
</cp:coreProperties>
</file>